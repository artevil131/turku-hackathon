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custom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2743200"/>
            <a:ext cx="10363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200" dirty="0">
                <a:solidFill>
                  <a:srgbClr val="333333"/>
                </a:solidFill>
                <a:latin typeface="Courier New"/>
                <a:cs typeface="Courier New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 txBox="1"/>
          <p:nvPr/>
        </p:nvSpPr>
        <p:spPr>
          <a:xfrm>
            <a:off x="600000" y="2500000"/>
            <a:ext cx="10992000" cy="1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800" i="1" dirty="0">
                <a:solidFill>
                  <a:srgbClr val="F0F0F0"/>
                </a:solidFill>
                <a:latin typeface="Courier New"/>
                <a:cs typeface="Courier New"/>
              </a:rPr>
              <a:t>“SPEED OF DIAGNOSIS IS ITSELF A TREATMENT”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 txBox="1"/>
          <p:nvPr/>
        </p:nvSpPr>
        <p:spPr>
          <a:xfrm>
            <a:off x="800000" y="820000"/>
            <a:ext cx="10592000" cy="1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Hospital resistance reports take </a:t>
            </a:r>
            <a:r>
              <a:rPr lang="en-US" sz="3600" dirty="0">
                <a:solidFill>
                  <a:srgbClr val="E62E2D"/>
                </a:solidFill>
                <a:latin typeface="Courier New"/>
                <a:cs typeface="Courier New"/>
              </a:rPr>
              <a:t>12 months</a:t>
            </a: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 txBox="1"/>
          <p:nvPr/>
        </p:nvSpPr>
        <p:spPr>
          <a:xfrm>
            <a:off x="800000" y="820000"/>
            <a:ext cx="10592000" cy="1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Hospital resistance reports take </a:t>
            </a:r>
            <a:r>
              <a:rPr lang="en-US" sz="3600" dirty="0">
                <a:solidFill>
                  <a:srgbClr val="E62E2D"/>
                </a:solidFill>
                <a:latin typeface="Courier New"/>
                <a:cs typeface="Courier New"/>
              </a:rPr>
              <a:t>12 months</a:t>
            </a: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.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1450000" y="3100000"/>
            <a:ext cx="9992000" cy="3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30000"/>
              </a:lnSpc>
              <a:spcAft>
                <a:spcPts val="3600"/>
              </a:spcAft>
            </a:pPr>
            <a:r>
              <a:rPr lang="en-US" sz="2900" dirty="0">
                <a:solidFill>
                  <a:srgbClr val="F0F0F0"/>
                </a:solidFill>
                <a:latin typeface="Courier New"/>
                <a:cs typeface="Courier New"/>
              </a:rPr>
              <a:t>• Static PDFs. Hospital-wide averages. Manual spreadsheets.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 txBox="1"/>
          <p:nvPr/>
        </p:nvSpPr>
        <p:spPr>
          <a:xfrm>
            <a:off x="800000" y="820000"/>
            <a:ext cx="10592000" cy="1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Hospital resistance reports take </a:t>
            </a:r>
            <a:r>
              <a:rPr lang="en-US" sz="3600" dirty="0">
                <a:solidFill>
                  <a:srgbClr val="E62E2D"/>
                </a:solidFill>
                <a:latin typeface="Courier New"/>
                <a:cs typeface="Courier New"/>
              </a:rPr>
              <a:t>12 months</a:t>
            </a: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.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1450000" y="3100000"/>
            <a:ext cx="9992000" cy="3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30000"/>
              </a:lnSpc>
              <a:spcAft>
                <a:spcPts val="3600"/>
              </a:spcAft>
            </a:pPr>
            <a:r>
              <a:rPr lang="en-US" sz="2900" dirty="0">
                <a:solidFill>
                  <a:srgbClr val="F0F0F0"/>
                </a:solidFill>
                <a:latin typeface="Courier New"/>
                <a:cs typeface="Courier New"/>
              </a:rPr>
              <a:t>• Static PDFs. Hospital-wide averages. Manual spreadsheets.</a:t>
            </a:r>
          </a:p>
          <a:p>
            <a:pPr algn="l">
              <a:lnSpc>
                <a:spcPct val="130000"/>
              </a:lnSpc>
              <a:spcAft>
                <a:spcPts val="3600"/>
              </a:spcAft>
            </a:pPr>
            <a:r>
              <a:rPr lang="en-US" sz="2900" dirty="0">
                <a:solidFill>
                  <a:srgbClr val="F0F0F0"/>
                </a:solidFill>
                <a:latin typeface="Courier New"/>
                <a:cs typeface="Courier New"/>
              </a:rPr>
              <a:t>• By the time the report is ready, the ward has 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"/>
          <p:cNvSpPr txBox="1"/>
          <p:nvPr/>
        </p:nvSpPr>
        <p:spPr>
          <a:xfrm>
            <a:off x="800000" y="820000"/>
            <a:ext cx="10592000" cy="1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Hospital resistance reports take </a:t>
            </a:r>
            <a:r>
              <a:rPr lang="en-US" sz="3600" dirty="0">
                <a:solidFill>
                  <a:srgbClr val="E62E2D"/>
                </a:solidFill>
                <a:latin typeface="Courier New"/>
                <a:cs typeface="Courier New"/>
              </a:rPr>
              <a:t>12 months</a:t>
            </a:r>
            <a:r>
              <a:rPr lang="en-US" sz="3600" dirty="0">
                <a:solidFill>
                  <a:srgbClr val="F0F0F0"/>
                </a:solidFill>
                <a:latin typeface="Courier New"/>
                <a:cs typeface="Courier New"/>
              </a:rPr>
              <a:t>.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1450000" y="3100000"/>
            <a:ext cx="9992000" cy="3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30000"/>
              </a:lnSpc>
              <a:spcAft>
                <a:spcPts val="3600"/>
              </a:spcAft>
            </a:pPr>
            <a:r>
              <a:rPr lang="en-US" sz="2900" dirty="0">
                <a:solidFill>
                  <a:srgbClr val="F0F0F0"/>
                </a:solidFill>
                <a:latin typeface="Courier New"/>
                <a:cs typeface="Courier New"/>
              </a:rPr>
              <a:t>• Static PDFs. Hospital-wide averages. Manual spreadsheets.</a:t>
            </a:r>
          </a:p>
          <a:p>
            <a:pPr algn="l">
              <a:lnSpc>
                <a:spcPct val="130000"/>
              </a:lnSpc>
              <a:spcAft>
                <a:spcPts val="3600"/>
              </a:spcAft>
            </a:pPr>
            <a:r>
              <a:rPr lang="en-US" sz="2900" dirty="0">
                <a:solidFill>
                  <a:srgbClr val="F0F0F0"/>
                </a:solidFill>
                <a:latin typeface="Courier New"/>
                <a:cs typeface="Courier New"/>
              </a:rPr>
              <a:t>• By the time the report is ready, the ward has already changed.</a:t>
            </a:r>
          </a:p>
          <a:p>
            <a:pPr algn="l">
              <a:lnSpc>
                <a:spcPct val="130000"/>
              </a:lnSpc>
              <a:spcAft>
                <a:spcPts val="3600"/>
              </a:spcAft>
            </a:pPr>
            <a:r>
              <a:rPr lang="en-US" sz="2900" dirty="0">
                <a:solidFill>
                  <a:srgbClr val="F0F0F0"/>
                </a:solidFill>
                <a:latin typeface="Courier New"/>
                <a:cs typeface="Courier New"/>
              </a:rPr>
              <a:t>• Human </a:t>
            </a:r>
            <a:r>
              <a:rPr lang="en-US" sz="2900" dirty="0">
                <a:solidFill>
                  <a:srgbClr val="E62E2D"/>
                </a:solidFill>
                <a:latin typeface="Courier New"/>
                <a:cs typeface="Courier New"/>
              </a:rPr>
              <a:t>lives depend</a:t>
            </a:r>
            <a:r>
              <a:rPr lang="en-US" sz="2900" dirty="0">
                <a:solidFill>
                  <a:srgbClr val="F0F0F0"/>
                </a:solidFill>
                <a:latin typeface="Courier New"/>
                <a:cs typeface="Courier New"/>
              </a:rPr>
              <a:t> on empirical choices that arrive too 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00000" y="2600000"/>
            <a:ext cx="10592000" cy="1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4400" dirty="0">
                <a:solidFill>
                  <a:srgbClr val="F0F0F0"/>
                </a:solidFill>
                <a:latin typeface="Courier New"/>
                <a:cs typeface="Courier New"/>
              </a:rPr>
              <a:t>THE COST OF BEING SLOW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utbreak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57150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urn"/>
          <p:cNvSpPr txBox="1"/>
          <p:nvPr/>
        </p:nvSpPr>
        <p:spPr>
          <a:xfrm>
            <a:off x="1950000" y="2200000"/>
            <a:ext cx="9192000" cy="26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>
              <a:lnSpc>
                <a:spcPct val="130000"/>
              </a:lnSpc>
            </a:pPr>
            <a:r>
              <a:rPr lang="en-US" sz="4200" dirty="0">
                <a:solidFill>
                  <a:srgbClr val="F0F0F0"/>
                </a:solidFill>
                <a:latin typeface="Courier New"/>
                <a:cs typeface="Courier New"/>
              </a:rPr>
              <a:t>The </a:t>
            </a:r>
            <a:r>
              <a:rPr lang="en-US" sz="4200" dirty="0">
                <a:solidFill>
                  <a:srgbClr val="E62E2D"/>
                </a:solidFill>
                <a:latin typeface="Courier New"/>
                <a:cs typeface="Courier New"/>
              </a:rPr>
              <a:t>bacteria don't wait</a:t>
            </a:r>
            <a:r>
              <a:rPr lang="en-US" sz="4200" dirty="0">
                <a:solidFill>
                  <a:srgbClr val="F0F0F0"/>
                </a:solidFill>
                <a:latin typeface="Courier New"/>
                <a:cs typeface="Courier New"/>
              </a:rPr>
              <a:t> for your</a:t>
            </a:r>
          </a:p>
          <a:p>
            <a:pPr algn="l">
              <a:lnSpc>
                <a:spcPct val="130000"/>
              </a:lnSpc>
            </a:pPr>
            <a:r>
              <a:rPr lang="en-US" sz="4200" dirty="0">
                <a:solidFill>
                  <a:srgbClr val="F0F0F0"/>
                </a:solidFill>
                <a:latin typeface="Courier New"/>
                <a:cs typeface="Courier New"/>
              </a:rPr>
              <a:t>annual resistance report to be</a:t>
            </a:r>
          </a:p>
          <a:p>
            <a:pPr algn="l">
              <a:lnSpc>
                <a:spcPct val="130000"/>
              </a:lnSpc>
            </a:pPr>
            <a:r>
              <a:rPr lang="en-US" sz="4200" dirty="0">
                <a:solidFill>
                  <a:srgbClr val="F0F0F0"/>
                </a:solidFill>
                <a:latin typeface="Courier New"/>
                <a:cs typeface="Courier New"/>
              </a:rPr>
              <a:t>ready...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veal"/>
          <p:cNvSpPr txBox="1"/>
          <p:nvPr/>
        </p:nvSpPr>
        <p:spPr>
          <a:xfrm>
            <a:off x="1000000" y="1900000"/>
            <a:ext cx="10192000" cy="3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  <a:spcAft>
                <a:spcPts val="1200"/>
              </a:spcAft>
            </a:pPr>
            <a:r>
              <a:rPr lang="en-US" sz="12800" dirty="0">
                <a:solidFill>
                  <a:srgbClr val="E6E6E6"/>
                </a:solidFill>
                <a:latin typeface="Courier New"/>
                <a:cs typeface="Courier New"/>
              </a:rPr>
              <a:t>AEI</a:t>
            </a:r>
          </a:p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9A9A9A"/>
                </a:solidFill>
                <a:latin typeface="Courier New"/>
                <a:cs typeface="Courier New"/>
              </a:rPr>
              <a:t>ANTIBIOTIC EFFICACY INDICATOR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formTitle"/>
          <p:cNvSpPr txBox="1"/>
          <p:nvPr/>
        </p:nvSpPr>
        <p:spPr>
          <a:xfrm>
            <a:off x="800000" y="720000"/>
            <a:ext cx="10592000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lnSpc>
                <a:spcPct val="130000"/>
              </a:lnSpc>
            </a:pPr>
            <a:r>
              <a:rPr lang="en-US" sz="3400" dirty="0">
                <a:solidFill>
                  <a:srgbClr val="F0F0F0"/>
                </a:solidFill>
                <a:latin typeface="Courier New"/>
                <a:cs typeface="Courier New"/>
              </a:rPr>
              <a:t>AEI Platform</a:t>
            </a:r>
          </a:p>
        </p:txBody>
      </p:sp>
      <p:sp>
        <p:nvSpPr>
          <p:cNvPr id="3" name="Pillars"/>
          <p:cNvSpPr txBox="1"/>
          <p:nvPr/>
        </p:nvSpPr>
        <p:spPr>
          <a:xfrm>
            <a:off x="1350000" y="2100000"/>
            <a:ext cx="9992000" cy="4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lnSpc>
                <a:spcPct val="130000"/>
              </a:lnSpc>
              <a:spcAft>
                <a:spcPts val="2400"/>
              </a:spcAft>
            </a:pPr>
            <a:r>
              <a:rPr lang="en-US" sz="3200" dirty="0">
                <a:solidFill>
                  <a:srgbClr val="F0F0F0"/>
                </a:solidFill>
                <a:latin typeface="Courier New"/>
                <a:cs typeface="Courier New"/>
              </a:rPr>
              <a:t>1. Streams live HL7 lab data across 9 wards &amp; THL national feeds</a:t>
            </a:r>
          </a:p>
          <a:p>
            <a:pPr algn="l">
              <a:lnSpc>
                <a:spcPct val="130000"/>
              </a:lnSpc>
              <a:spcAft>
                <a:spcPts val="2400"/>
              </a:spcAft>
            </a:pPr>
            <a:r>
              <a:rPr lang="en-US" sz="3200" dirty="0">
                <a:solidFill>
                  <a:srgbClr val="F0F0F0"/>
                </a:solidFill>
                <a:latin typeface="Courier New"/>
                <a:cs typeface="Courier New"/>
              </a:rPr>
              <a:t>2. Ward treatment rankings &amp; outbreak detection in seconds rather than a year</a:t>
            </a:r>
          </a:p>
          <a:p>
            <a:pPr algn="l">
              <a:lnSpc>
                <a:spcPct val="130000"/>
              </a:lnSpc>
              <a:spcAft>
                <a:spcPts val="2400"/>
              </a:spcAft>
            </a:pPr>
            <a:r>
              <a:rPr lang="en-US" sz="3200" dirty="0">
                <a:solidFill>
                  <a:srgbClr val="F0F0F0"/>
                </a:solidFill>
                <a:latin typeface="Courier New"/>
                <a:cs typeface="Courier New"/>
              </a:rPr>
              <a:t>3. All-in-one reproducible workbench with 1-click R, Python &amp; LaTeX 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m"/>
          <p:cNvSpPr txBox="1"/>
          <p:nvPr/>
        </p:nvSpPr>
        <p:spPr>
          <a:xfrm>
            <a:off x="1000000" y="2100000"/>
            <a:ext cx="10192000" cy="28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  <a:spcAft>
                <a:spcPts val="2400"/>
              </a:spcAft>
            </a:pPr>
            <a:r>
              <a:rPr lang="en-US" sz="9600" dirty="0">
                <a:solidFill>
                  <a:srgbClr val="F0F0F0"/>
                </a:solidFill>
                <a:latin typeface="Courier New"/>
                <a:cs typeface="Courier New"/>
              </a:rPr>
              <a:t>The Team</a:t>
            </a:r>
          </a:p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9A9A9A"/>
                </a:solidFill>
                <a:latin typeface="Courier New"/>
                <a:cs typeface="Courier New"/>
              </a:rPr>
              <a:t>Clinical &amp; Statistical Engine  ·  Full-Stack &amp; HL7 Pipeline  ·  Workbench &amp; 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1000000" y="1800000"/>
            <a:ext cx="10192000" cy="34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lang="en-US" sz="10400" dirty="0">
                <a:solidFill>
                  <a:srgbClr val="F0F0F0"/>
                </a:solidFill>
                <a:latin typeface="Courier New"/>
                <a:cs typeface="Courier New"/>
              </a:rPr>
              <a:t>THANK</a:t>
            </a:r>
          </a:p>
          <a:p>
            <a:pPr algn="ctr">
              <a:lnSpc>
                <a:spcPct val="130000"/>
              </a:lnSpc>
            </a:pPr>
            <a:r>
              <a:rPr lang="en-US" sz="10400" dirty="0">
                <a:solidFill>
                  <a:srgbClr val="F0F0F0"/>
                </a:solidFill>
                <a:latin typeface="Courier New"/>
                <a:cs typeface="Courier New"/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1NX Dark">
  <a:themeElements>
    <a:clrScheme name="L1NX">
      <a:dk1>
        <a:srgbClr val="0B0B0B"/>
      </a:dk1>
      <a:lt1>
        <a:srgbClr val="F0F0F0"/>
      </a:lt1>
      <a:dk2>
        <a:srgbClr val="161616"/>
      </a:dk2>
      <a:lt2>
        <a:srgbClr val="9A9A9A"/>
      </a:lt2>
      <a:accent1>
        <a:srgbClr val="E62E2D"/>
      </a:accent1>
      <a:accent2>
        <a:srgbClr val="2EC4B6"/>
      </a:accent2>
      <a:accent3>
        <a:srgbClr val="F4A261"/>
      </a:accent3>
      <a:accent4>
        <a:srgbClr val="E76F51"/>
      </a:accent4>
      <a:accent5>
        <a:srgbClr val="A8DADC"/>
      </a:accent5>
      <a:accent6>
        <a:srgbClr val="457B9D"/>
      </a:accent6>
      <a:hlink>
        <a:srgbClr val="2EC4B6"/>
      </a:hlink>
      <a:folHlink>
        <a:srgbClr val="9A9A9A"/>
      </a:folHlink>
    </a:clrScheme>
    <a:fontScheme name="Courie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